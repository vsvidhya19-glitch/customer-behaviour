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0BFF7-7E4A-47E5-B531-16E0107D19EC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111F7-AE4D-4B1F-88F1-C41DC5750F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8584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0BFF7-7E4A-47E5-B531-16E0107D19EC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84F111F7-AE4D-4B1F-88F1-C41DC5750F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716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0BFF7-7E4A-47E5-B531-16E0107D19EC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111F7-AE4D-4B1F-88F1-C41DC5750F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4677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0BFF7-7E4A-47E5-B531-16E0107D19EC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111F7-AE4D-4B1F-88F1-C41DC5750F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9433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0BFF7-7E4A-47E5-B531-16E0107D19EC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111F7-AE4D-4B1F-88F1-C41DC5750F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667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0BFF7-7E4A-47E5-B531-16E0107D19EC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111F7-AE4D-4B1F-88F1-C41DC5750F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6776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0BFF7-7E4A-47E5-B531-16E0107D19EC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111F7-AE4D-4B1F-88F1-C41DC5750F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4146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0BFF7-7E4A-47E5-B531-16E0107D19EC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111F7-AE4D-4B1F-88F1-C41DC5750F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0056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0BFF7-7E4A-47E5-B531-16E0107D19EC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111F7-AE4D-4B1F-88F1-C41DC5750F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3427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0BFF7-7E4A-47E5-B531-16E0107D19EC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111F7-AE4D-4B1F-88F1-C41DC5750F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2695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0BFF7-7E4A-47E5-B531-16E0107D19EC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111F7-AE4D-4B1F-88F1-C41DC5750F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64315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0BFF7-7E4A-47E5-B531-16E0107D19EC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111F7-AE4D-4B1F-88F1-C41DC5750F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05525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0BFF7-7E4A-47E5-B531-16E0107D19EC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111F7-AE4D-4B1F-88F1-C41DC5750F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7999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0BFF7-7E4A-47E5-B531-16E0107D19EC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111F7-AE4D-4B1F-88F1-C41DC5750F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60277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0BFF7-7E4A-47E5-B531-16E0107D19EC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111F7-AE4D-4B1F-88F1-C41DC5750F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24477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0BFF7-7E4A-47E5-B531-16E0107D19EC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111F7-AE4D-4B1F-88F1-C41DC5750F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23961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0BFF7-7E4A-47E5-B531-16E0107D19EC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111F7-AE4D-4B1F-88F1-C41DC5750F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5518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730BFF7-7E4A-47E5-B531-16E0107D19EC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4F111F7-AE4D-4B1F-88F1-C41DC5750F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3387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94931-BF88-CF6E-348D-1EA320D953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93723"/>
            <a:ext cx="9144000" cy="1762239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r>
              <a:rPr lang="en-US" b="1" dirty="0"/>
              <a:t>Customer Shopping Behavior Analysis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1BBFBF-F0D3-799C-4D32-41E040F7DC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Uncovering insights from 3,900 purchases to guide strategic business decisions through data-driven analysis of spending patterns, customer segments, and product preferences.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0443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5D82E-0E8C-8526-97C0-3F4387E61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747074"/>
          </a:xfrm>
        </p:spPr>
        <p:txBody>
          <a:bodyPr>
            <a:normAutofit/>
          </a:bodyPr>
          <a:lstStyle/>
          <a:p>
            <a:r>
              <a:rPr lang="en-IN" b="1" dirty="0"/>
              <a:t>Understanding Our Data Foundation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3441948-2FA6-D575-3059-F040123FE4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971330"/>
              </p:ext>
            </p:extLst>
          </p:nvPr>
        </p:nvGraphicFramePr>
        <p:xfrm>
          <a:off x="1484311" y="1769490"/>
          <a:ext cx="962565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8550">
                  <a:extLst>
                    <a:ext uri="{9D8B030D-6E8A-4147-A177-3AD203B41FA5}">
                      <a16:colId xmlns:a16="http://schemas.microsoft.com/office/drawing/2014/main" val="2592130114"/>
                    </a:ext>
                  </a:extLst>
                </a:gridCol>
                <a:gridCol w="3208550">
                  <a:extLst>
                    <a:ext uri="{9D8B030D-6E8A-4147-A177-3AD203B41FA5}">
                      <a16:colId xmlns:a16="http://schemas.microsoft.com/office/drawing/2014/main" val="764997056"/>
                    </a:ext>
                  </a:extLst>
                </a:gridCol>
                <a:gridCol w="3208550">
                  <a:extLst>
                    <a:ext uri="{9D8B030D-6E8A-4147-A177-3AD203B41FA5}">
                      <a16:colId xmlns:a16="http://schemas.microsoft.com/office/drawing/2014/main" val="2401804469"/>
                    </a:ext>
                  </a:extLst>
                </a:gridCol>
              </a:tblGrid>
              <a:tr h="213195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3,900</a:t>
                      </a:r>
                    </a:p>
                    <a:p>
                      <a:pPr algn="ctr"/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Total Purchases</a:t>
                      </a:r>
                    </a:p>
                    <a:p>
                      <a:pPr algn="ctr"/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Transactions analyzed across all categories</a:t>
                      </a:r>
                    </a:p>
                    <a:p>
                      <a:pPr algn="ctr"/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18</a:t>
                      </a:r>
                    </a:p>
                    <a:p>
                      <a:pPr algn="ctr"/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Data Columns</a:t>
                      </a:r>
                    </a:p>
                    <a:p>
                      <a:pPr algn="ctr"/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Features tracking customer behavior</a:t>
                      </a:r>
                    </a:p>
                    <a:p>
                      <a:pPr algn="ctr"/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37</a:t>
                      </a:r>
                    </a:p>
                    <a:p>
                      <a:pPr algn="ctr"/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Missing Values</a:t>
                      </a:r>
                    </a:p>
                    <a:p>
                      <a:pPr algn="ctr"/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Only in Review Rating column</a:t>
                      </a:r>
                    </a:p>
                    <a:p>
                      <a:pPr algn="ctr"/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3989895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051827A-7AC9-CF2A-4337-65DAE78D9F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2589011"/>
              </p:ext>
            </p:extLst>
          </p:nvPr>
        </p:nvGraphicFramePr>
        <p:xfrm>
          <a:off x="1971040" y="4727386"/>
          <a:ext cx="81280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88507918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7304139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Customer Demographics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Age, Gender, Location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Subscription Status</a:t>
                      </a:r>
                    </a:p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Shopping Behavior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Purchase patterns and frequency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Discount usage and ratings</a:t>
                      </a:r>
                    </a:p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898018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3655A490-42B8-E89C-9BE9-02EACCABC796}"/>
              </a:ext>
            </a:extLst>
          </p:cNvPr>
          <p:cNvSpPr txBox="1"/>
          <p:nvPr/>
        </p:nvSpPr>
        <p:spPr>
          <a:xfrm>
            <a:off x="1593130" y="163401"/>
            <a:ext cx="20949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Overview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1836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F7C3D9D2-ECA4-39AF-C7FD-9A171DEECC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9720" y="439384"/>
            <a:ext cx="206502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Analysis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0BB751-8788-5348-CBC0-FF1D022C240D}"/>
              </a:ext>
            </a:extLst>
          </p:cNvPr>
          <p:cNvSpPr txBox="1"/>
          <p:nvPr/>
        </p:nvSpPr>
        <p:spPr>
          <a:xfrm>
            <a:off x="1402080" y="806143"/>
            <a:ext cx="59664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/>
              <a:t>Data Preparation &amp; Cleaning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C1CA66-FF25-251C-1364-BC867187E24C}"/>
              </a:ext>
            </a:extLst>
          </p:cNvPr>
          <p:cNvSpPr txBox="1"/>
          <p:nvPr/>
        </p:nvSpPr>
        <p:spPr>
          <a:xfrm>
            <a:off x="1272540" y="146619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1. Data Loading &amp; Exploration</a:t>
            </a:r>
          </a:p>
          <a:p>
            <a:pPr>
              <a:buNone/>
            </a:pPr>
            <a:r>
              <a:rPr lang="en-US" dirty="0"/>
              <a:t>Imported dataset using pandas, examined structure with df.info() and summary statistics with </a:t>
            </a:r>
            <a:r>
              <a:rPr lang="en-US" dirty="0" err="1"/>
              <a:t>df.describe</a:t>
            </a:r>
            <a:r>
              <a:rPr lang="en-US" dirty="0"/>
              <a:t>()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DE8B8E-F91B-6526-1994-1533BDA4E9A4}"/>
              </a:ext>
            </a:extLst>
          </p:cNvPr>
          <p:cNvSpPr txBox="1"/>
          <p:nvPr/>
        </p:nvSpPr>
        <p:spPr>
          <a:xfrm>
            <a:off x="1272540" y="238952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2. Missing Data Handling</a:t>
            </a:r>
          </a:p>
          <a:p>
            <a:pPr>
              <a:buNone/>
            </a:pPr>
            <a:r>
              <a:rPr lang="en-US" dirty="0"/>
              <a:t>Imputed 37 missing Review Rating values using median rating per product category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4714E7-4A6F-FB1F-B44E-748903F0145A}"/>
              </a:ext>
            </a:extLst>
          </p:cNvPr>
          <p:cNvSpPr txBox="1"/>
          <p:nvPr/>
        </p:nvSpPr>
        <p:spPr>
          <a:xfrm>
            <a:off x="1272540" y="331285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3. Feature Engineering</a:t>
            </a:r>
          </a:p>
          <a:p>
            <a:pPr>
              <a:buNone/>
            </a:pPr>
            <a:r>
              <a:rPr lang="en-US" dirty="0"/>
              <a:t>Created </a:t>
            </a:r>
            <a:r>
              <a:rPr lang="en-US" dirty="0" err="1"/>
              <a:t>age_group</a:t>
            </a:r>
            <a:r>
              <a:rPr lang="en-US" dirty="0"/>
              <a:t> bins and </a:t>
            </a:r>
            <a:r>
              <a:rPr lang="en-US" dirty="0" err="1"/>
              <a:t>purchase_frequency_days</a:t>
            </a:r>
            <a:r>
              <a:rPr lang="en-US" dirty="0"/>
              <a:t> columns for deeper insights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7747F5E-C644-370D-267B-3ABD532421DD}"/>
              </a:ext>
            </a:extLst>
          </p:cNvPr>
          <p:cNvSpPr txBox="1"/>
          <p:nvPr/>
        </p:nvSpPr>
        <p:spPr>
          <a:xfrm>
            <a:off x="1272540" y="417129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4. Database Integration</a:t>
            </a:r>
          </a:p>
          <a:p>
            <a:pPr>
              <a:buNone/>
            </a:pPr>
            <a:r>
              <a:rPr lang="en-US" dirty="0"/>
              <a:t>Connected to PostgreSQL and loaded cleaned data for SQL analysis</a:t>
            </a:r>
          </a:p>
        </p:txBody>
      </p:sp>
    </p:spTree>
    <p:extLst>
      <p:ext uri="{BB962C8B-B14F-4D97-AF65-F5344CB8AC3E}">
        <p14:creationId xmlns:p14="http://schemas.microsoft.com/office/powerpoint/2010/main" val="625156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47A626C2-3B9C-9071-004D-9A56601FEE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4020" y="74414"/>
            <a:ext cx="352806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Revenue Insights by Gender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84D6C13-385E-AC91-27FB-61F708AE99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2347051"/>
              </p:ext>
            </p:extLst>
          </p:nvPr>
        </p:nvGraphicFramePr>
        <p:xfrm>
          <a:off x="2032000" y="719666"/>
          <a:ext cx="8514080" cy="40428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7040">
                  <a:extLst>
                    <a:ext uri="{9D8B030D-6E8A-4147-A177-3AD203B41FA5}">
                      <a16:colId xmlns:a16="http://schemas.microsoft.com/office/drawing/2014/main" val="1199938903"/>
                    </a:ext>
                  </a:extLst>
                </a:gridCol>
                <a:gridCol w="4257040">
                  <a:extLst>
                    <a:ext uri="{9D8B030D-6E8A-4147-A177-3AD203B41FA5}">
                      <a16:colId xmlns:a16="http://schemas.microsoft.com/office/drawing/2014/main" val="920175701"/>
                    </a:ext>
                  </a:extLst>
                </a:gridCol>
              </a:tblGrid>
              <a:tr h="4042834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Balanced Revenue</a:t>
                      </a:r>
                    </a:p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Male and female customers contribute nearly equal revenue, indicating broad market appeal across genders with no significant skew in purchasing power.</a:t>
                      </a:r>
                    </a:p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080865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737FB285-9E6E-0E2A-399A-CF26C9102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3546" y="1234440"/>
            <a:ext cx="3872454" cy="2666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37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704B425-6DB8-958E-F250-A0EBF53DC4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0220" y="365760"/>
            <a:ext cx="180594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Key Findings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BCBB8A-28A0-7A28-78E8-517A246904E9}"/>
              </a:ext>
            </a:extLst>
          </p:cNvPr>
          <p:cNvSpPr txBox="1"/>
          <p:nvPr/>
        </p:nvSpPr>
        <p:spPr>
          <a:xfrm>
            <a:off x="1310640" y="943094"/>
            <a:ext cx="304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Customer </a:t>
            </a:r>
            <a:r>
              <a:rPr lang="en-IN" b="1" dirty="0" err="1"/>
              <a:t>Behavior</a:t>
            </a:r>
            <a:r>
              <a:rPr lang="en-IN" b="1" dirty="0"/>
              <a:t> Patterns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D61F49E-7F03-0DEA-316C-F48FB2BDC9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3515496"/>
              </p:ext>
            </p:extLst>
          </p:nvPr>
        </p:nvGraphicFramePr>
        <p:xfrm>
          <a:off x="1376680" y="1626446"/>
          <a:ext cx="4864100" cy="16577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64100">
                  <a:extLst>
                    <a:ext uri="{9D8B030D-6E8A-4147-A177-3AD203B41FA5}">
                      <a16:colId xmlns:a16="http://schemas.microsoft.com/office/drawing/2014/main" val="2188976150"/>
                    </a:ext>
                  </a:extLst>
                </a:gridCol>
              </a:tblGrid>
              <a:tr h="1657774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Smart Discount Users</a:t>
                      </a:r>
                    </a:p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High-spending customers still use discounts but maintain above-average purchase amounts</a:t>
                      </a:r>
                    </a:p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611512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D22B191-F0CA-DD09-ED34-71A7211185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5939125"/>
              </p:ext>
            </p:extLst>
          </p:nvPr>
        </p:nvGraphicFramePr>
        <p:xfrm>
          <a:off x="6570980" y="1626446"/>
          <a:ext cx="4864100" cy="16577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64100">
                  <a:extLst>
                    <a:ext uri="{9D8B030D-6E8A-4147-A177-3AD203B41FA5}">
                      <a16:colId xmlns:a16="http://schemas.microsoft.com/office/drawing/2014/main" val="2188976150"/>
                    </a:ext>
                  </a:extLst>
                </a:gridCol>
              </a:tblGrid>
              <a:tr h="1657774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Top-Rated Products</a:t>
                      </a:r>
                    </a:p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Identified products with highest average review ratings driving customer satisfaction</a:t>
                      </a:r>
                    </a:p>
                    <a:p>
                      <a:pPr algn="ctr"/>
                      <a:endParaRPr lang="en-IN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611512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3DF624B-A2EF-AB25-852F-D5A7D0326C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9071066"/>
              </p:ext>
            </p:extLst>
          </p:nvPr>
        </p:nvGraphicFramePr>
        <p:xfrm>
          <a:off x="1376680" y="3598240"/>
          <a:ext cx="4864100" cy="16577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64100">
                  <a:extLst>
                    <a:ext uri="{9D8B030D-6E8A-4147-A177-3AD203B41FA5}">
                      <a16:colId xmlns:a16="http://schemas.microsoft.com/office/drawing/2014/main" val="2188976150"/>
                    </a:ext>
                  </a:extLst>
                </a:gridCol>
              </a:tblGrid>
              <a:tr h="1657774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Shipping Preferences</a:t>
                      </a:r>
                    </a:p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Express shipping users show higher average purchase amounts compared to standard</a:t>
                      </a:r>
                    </a:p>
                    <a:p>
                      <a:endParaRPr lang="en-IN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6115126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30776C19-F0D0-0CA6-8482-FC2F446FD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8059" y="3368040"/>
            <a:ext cx="3192705" cy="2232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336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32D328-DEA8-A4E4-4583-F0029A05729F}"/>
              </a:ext>
            </a:extLst>
          </p:cNvPr>
          <p:cNvSpPr txBox="1"/>
          <p:nvPr/>
        </p:nvSpPr>
        <p:spPr>
          <a:xfrm>
            <a:off x="1493520" y="470654"/>
            <a:ext cx="3116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Subscription Impact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930EB9-DDF6-C050-7FBF-6BA455CCE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038106"/>
            <a:ext cx="10061619" cy="42349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840F7AF-45C8-2756-8B01-69BE7D9653D4}"/>
              </a:ext>
            </a:extLst>
          </p:cNvPr>
          <p:cNvSpPr txBox="1"/>
          <p:nvPr/>
        </p:nvSpPr>
        <p:spPr>
          <a:xfrm>
            <a:off x="2000249" y="5992212"/>
            <a:ext cx="81915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Key Insight:</a:t>
            </a:r>
            <a:r>
              <a:rPr lang="en-US" dirty="0"/>
              <a:t> Subscribers represent a smaller customer base but drive disproportionately higher revenue—a critical growth opportunity.</a:t>
            </a:r>
          </a:p>
        </p:txBody>
      </p:sp>
    </p:spTree>
    <p:extLst>
      <p:ext uri="{BB962C8B-B14F-4D97-AF65-F5344CB8AC3E}">
        <p14:creationId xmlns:p14="http://schemas.microsoft.com/office/powerpoint/2010/main" val="723688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A1234C-31D9-7BE7-5DF4-7888D83EF141}"/>
              </a:ext>
            </a:extLst>
          </p:cNvPr>
          <p:cNvSpPr txBox="1"/>
          <p:nvPr/>
        </p:nvSpPr>
        <p:spPr>
          <a:xfrm>
            <a:off x="1607820" y="196334"/>
            <a:ext cx="3771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Customer Segmentation Strategy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811E74-F068-F529-07EF-AF32D5C6B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340" y="708397"/>
            <a:ext cx="9657250" cy="3223523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2BB2B8E-8F43-6ECD-F78E-5F6E0AB570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58246"/>
              </p:ext>
            </p:extLst>
          </p:nvPr>
        </p:nvGraphicFramePr>
        <p:xfrm>
          <a:off x="1734820" y="4209626"/>
          <a:ext cx="949977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9885">
                  <a:extLst>
                    <a:ext uri="{9D8B030D-6E8A-4147-A177-3AD203B41FA5}">
                      <a16:colId xmlns:a16="http://schemas.microsoft.com/office/drawing/2014/main" val="2484724532"/>
                    </a:ext>
                  </a:extLst>
                </a:gridCol>
                <a:gridCol w="4749885">
                  <a:extLst>
                    <a:ext uri="{9D8B030D-6E8A-4147-A177-3AD203B41FA5}">
                      <a16:colId xmlns:a16="http://schemas.microsoft.com/office/drawing/2014/main" val="42076250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Repeat Buyer Insight</a:t>
                      </a:r>
                    </a:p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Customers with 5+ purchases show significantly higher subscription rates, indicating loyalty correlation.</a:t>
                      </a:r>
                    </a:p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Growth Opportunity</a:t>
                      </a:r>
                    </a:p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Moving customers from New to Returning segments should be a priority focus area.</a:t>
                      </a:r>
                    </a:p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09377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1173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EAB3F8-924C-E92D-F3EF-EBEEEC88EC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5920" y="62984"/>
            <a:ext cx="18973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 Analysis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226401-F1C5-41B9-53FF-DB4B4AD3F1D6}"/>
              </a:ext>
            </a:extLst>
          </p:cNvPr>
          <p:cNvSpPr txBox="1"/>
          <p:nvPr/>
        </p:nvSpPr>
        <p:spPr>
          <a:xfrm>
            <a:off x="1424940" y="752594"/>
            <a:ext cx="304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Top Performers by Category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0DFA94E-2A07-9DD9-C05D-409D40527D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0159156"/>
              </p:ext>
            </p:extLst>
          </p:nvPr>
        </p:nvGraphicFramePr>
        <p:xfrm>
          <a:off x="1645920" y="1442204"/>
          <a:ext cx="3413760" cy="22153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3760">
                  <a:extLst>
                    <a:ext uri="{9D8B030D-6E8A-4147-A177-3AD203B41FA5}">
                      <a16:colId xmlns:a16="http://schemas.microsoft.com/office/drawing/2014/main" val="693466139"/>
                    </a:ext>
                  </a:extLst>
                </a:gridCol>
              </a:tblGrid>
              <a:tr h="478036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8838208"/>
                  </a:ext>
                </a:extLst>
              </a:tr>
              <a:tr h="1229618">
                <a:tc>
                  <a:txBody>
                    <a:bodyPr/>
                    <a:lstStyle/>
                    <a:p>
                      <a:r>
                        <a:rPr lang="en-US" b="1" dirty="0"/>
                        <a:t>Clothing</a:t>
                      </a:r>
                    </a:p>
                    <a:p>
                      <a:endParaRPr lang="en-US" b="1" dirty="0"/>
                    </a:p>
                    <a:p>
                      <a:r>
                        <a:rPr lang="en-US" b="1" dirty="0"/>
                        <a:t>Blouse</a:t>
                      </a:r>
                      <a:r>
                        <a:rPr lang="en-US" dirty="0"/>
                        <a:t> leads with highest purchase volume, followed by Dress and Shirt</a:t>
                      </a:r>
                    </a:p>
                    <a:p>
                      <a:endParaRPr lang="en-IN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127980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EA9DB0A-1DED-0C6C-50D4-5F5218ADA2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4575476"/>
              </p:ext>
            </p:extLst>
          </p:nvPr>
        </p:nvGraphicFramePr>
        <p:xfrm>
          <a:off x="5242560" y="1442204"/>
          <a:ext cx="3413760" cy="22458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3760">
                  <a:extLst>
                    <a:ext uri="{9D8B030D-6E8A-4147-A177-3AD203B41FA5}">
                      <a16:colId xmlns:a16="http://schemas.microsoft.com/office/drawing/2014/main" val="693466139"/>
                    </a:ext>
                  </a:extLst>
                </a:gridCol>
              </a:tblGrid>
              <a:tr h="508516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8838208"/>
                  </a:ext>
                </a:extLst>
              </a:tr>
              <a:tr h="1229618">
                <a:tc>
                  <a:txBody>
                    <a:bodyPr/>
                    <a:lstStyle/>
                    <a:p>
                      <a:r>
                        <a:rPr lang="en-US" b="1" dirty="0"/>
                        <a:t>Accessories</a:t>
                      </a:r>
                    </a:p>
                    <a:p>
                      <a:endParaRPr lang="en-US" b="1" dirty="0"/>
                    </a:p>
                    <a:p>
                      <a:r>
                        <a:rPr lang="en-US" b="1" dirty="0"/>
                        <a:t>Jewelry</a:t>
                      </a:r>
                      <a:r>
                        <a:rPr lang="en-US" dirty="0"/>
                        <a:t> dominates category sales, with Sunglasses and Handbag close behind</a:t>
                      </a:r>
                    </a:p>
                    <a:p>
                      <a:endParaRPr lang="en-IN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127980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FB4EF39-5301-39CC-BD7E-943F9B1E52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4720591"/>
              </p:ext>
            </p:extLst>
          </p:nvPr>
        </p:nvGraphicFramePr>
        <p:xfrm>
          <a:off x="8839200" y="1442204"/>
          <a:ext cx="3413760" cy="22153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3760">
                  <a:extLst>
                    <a:ext uri="{9D8B030D-6E8A-4147-A177-3AD203B41FA5}">
                      <a16:colId xmlns:a16="http://schemas.microsoft.com/office/drawing/2014/main" val="693466139"/>
                    </a:ext>
                  </a:extLst>
                </a:gridCol>
              </a:tblGrid>
              <a:tr h="541389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8838208"/>
                  </a:ext>
                </a:extLst>
              </a:tr>
              <a:tr h="1674007">
                <a:tc>
                  <a:txBody>
                    <a:bodyPr/>
                    <a:lstStyle/>
                    <a:p>
                      <a:r>
                        <a:rPr lang="en-US" b="1" dirty="0"/>
                        <a:t>Footwear</a:t>
                      </a:r>
                    </a:p>
                    <a:p>
                      <a:endParaRPr lang="en-US" b="1" dirty="0"/>
                    </a:p>
                    <a:p>
                      <a:r>
                        <a:rPr lang="en-US" b="1" dirty="0"/>
                        <a:t>Sneakers</a:t>
                      </a:r>
                      <a:r>
                        <a:rPr lang="en-US" dirty="0"/>
                        <a:t> are most popular, followed by Sandals and Boots</a:t>
                      </a:r>
                    </a:p>
                    <a:p>
                      <a:endParaRPr lang="en-IN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127980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651214F-9630-9736-05E4-79838864B476}"/>
              </a:ext>
            </a:extLst>
          </p:cNvPr>
          <p:cNvSpPr txBox="1"/>
          <p:nvPr/>
        </p:nvSpPr>
        <p:spPr>
          <a:xfrm>
            <a:off x="1645920" y="4049375"/>
            <a:ext cx="10546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/>
              <a:t>Discount-Dependent Products:</a:t>
            </a:r>
            <a:r>
              <a:rPr lang="en-US"/>
              <a:t> Three items show highest percentage of discounted purchases, suggesting price sensitivity in specific categories.</a:t>
            </a:r>
          </a:p>
        </p:txBody>
      </p:sp>
    </p:spTree>
    <p:extLst>
      <p:ext uri="{BB962C8B-B14F-4D97-AF65-F5344CB8AC3E}">
        <p14:creationId xmlns:p14="http://schemas.microsoft.com/office/powerpoint/2010/main" val="2287921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F4D1A3-1EC4-DE4F-04F3-260CC0F6863F}"/>
              </a:ext>
            </a:extLst>
          </p:cNvPr>
          <p:cNvSpPr txBox="1"/>
          <p:nvPr/>
        </p:nvSpPr>
        <p:spPr>
          <a:xfrm>
            <a:off x="1805940" y="591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Revenue by Age Group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569EE5-4EB7-FA06-0A28-B15E7E7586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585" y="532090"/>
            <a:ext cx="9322015" cy="45510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6E39D2B-FFA6-5E95-F493-95A98676D08A}"/>
              </a:ext>
            </a:extLst>
          </p:cNvPr>
          <p:cNvSpPr txBox="1"/>
          <p:nvPr/>
        </p:nvSpPr>
        <p:spPr>
          <a:xfrm>
            <a:off x="1460284" y="5402580"/>
            <a:ext cx="913913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The 26-35 age group drives the highest revenue contribution, representing the core target demographic. Marketing efforts should prioritize this segment while developing strategies to engage adjacent age groups.</a:t>
            </a:r>
          </a:p>
        </p:txBody>
      </p:sp>
    </p:spTree>
    <p:extLst>
      <p:ext uri="{BB962C8B-B14F-4D97-AF65-F5344CB8AC3E}">
        <p14:creationId xmlns:p14="http://schemas.microsoft.com/office/powerpoint/2010/main" val="3393287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FF5031B-D2FB-1960-99D5-E4E1B80FF5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4480" y="129540"/>
            <a:ext cx="547116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Strategic Recommendations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6A908F-06EA-0A66-2A9A-67D59AA765D0}"/>
              </a:ext>
            </a:extLst>
          </p:cNvPr>
          <p:cNvSpPr txBox="1"/>
          <p:nvPr/>
        </p:nvSpPr>
        <p:spPr>
          <a:xfrm>
            <a:off x="1554480" y="699254"/>
            <a:ext cx="3230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Business</a:t>
            </a:r>
            <a:r>
              <a:rPr lang="en-IN" sz="2000" b="1" dirty="0"/>
              <a:t> Action Plan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10304D-D86F-1A23-91AF-5955E9C8028D}"/>
              </a:ext>
            </a:extLst>
          </p:cNvPr>
          <p:cNvSpPr txBox="1"/>
          <p:nvPr/>
        </p:nvSpPr>
        <p:spPr>
          <a:xfrm>
            <a:off x="1508760" y="129736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Boost Subscriptions</a:t>
            </a:r>
          </a:p>
          <a:p>
            <a:pPr>
              <a:buNone/>
            </a:pPr>
            <a:r>
              <a:rPr lang="en-US" dirty="0"/>
              <a:t>Promote exclusive benefits and perks to convert high-value customers into subscribers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42CD5C-01BC-A3E5-10F5-6D5B074DFC6C}"/>
              </a:ext>
            </a:extLst>
          </p:cNvPr>
          <p:cNvSpPr txBox="1"/>
          <p:nvPr/>
        </p:nvSpPr>
        <p:spPr>
          <a:xfrm>
            <a:off x="1493520" y="241869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Loyalty Programs</a:t>
            </a:r>
          </a:p>
          <a:p>
            <a:pPr>
              <a:buNone/>
            </a:pPr>
            <a:r>
              <a:rPr lang="en-US" dirty="0"/>
              <a:t>Reward repeat buyers to accelerate movement into "Loyal" customer segment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69268F-BE7F-36D7-E38C-6EF3B1DF7A5A}"/>
              </a:ext>
            </a:extLst>
          </p:cNvPr>
          <p:cNvSpPr txBox="1"/>
          <p:nvPr/>
        </p:nvSpPr>
        <p:spPr>
          <a:xfrm>
            <a:off x="1493520" y="334202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Optimize Discounts</a:t>
            </a:r>
          </a:p>
          <a:p>
            <a:pPr>
              <a:buNone/>
            </a:pPr>
            <a:r>
              <a:rPr lang="en-US" dirty="0"/>
              <a:t>Balance promotional sales boosts with margin control for sustainable growth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2D85B0-6D79-6E21-5DBF-FDF1509361E7}"/>
              </a:ext>
            </a:extLst>
          </p:cNvPr>
          <p:cNvSpPr txBox="1"/>
          <p:nvPr/>
        </p:nvSpPr>
        <p:spPr>
          <a:xfrm>
            <a:off x="1493520" y="426535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Targeted Marketing</a:t>
            </a:r>
          </a:p>
          <a:p>
            <a:pPr>
              <a:buNone/>
            </a:pPr>
            <a:r>
              <a:rPr lang="en-US" dirty="0"/>
              <a:t>Focus campaigns on high-revenue age groups (26-35) and express-shipping users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1987DD3-985C-D29D-63B5-A87FA1489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0265" y="-144780"/>
            <a:ext cx="4113663" cy="666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8572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1334</TotalTime>
  <Words>451</Words>
  <Application>Microsoft Office PowerPoint</Application>
  <PresentationFormat>Widescreen</PresentationFormat>
  <Paragraphs>89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Corbel</vt:lpstr>
      <vt:lpstr>Parallax</vt:lpstr>
      <vt:lpstr>   Customer Shopping Behavior Analysis</vt:lpstr>
      <vt:lpstr>Understanding Our Data Foundation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Vidhya S</dc:creator>
  <cp:lastModifiedBy>Vidhya S</cp:lastModifiedBy>
  <cp:revision>1</cp:revision>
  <dcterms:created xsi:type="dcterms:W3CDTF">2026-01-16T11:48:12Z</dcterms:created>
  <dcterms:modified xsi:type="dcterms:W3CDTF">2026-01-17T10:02:40Z</dcterms:modified>
</cp:coreProperties>
</file>